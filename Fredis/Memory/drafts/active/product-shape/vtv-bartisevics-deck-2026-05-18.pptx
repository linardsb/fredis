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57055" y="-1280160"/>
            <a:ext cx="4754880" cy="47548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365760" cy="2286000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400" b="1">
                <a:solidFill>
                  <a:srgbClr val="1C1C1C"/>
                </a:solidFill>
                <a:latin typeface="Homizio"/>
              </a:rPr>
              <a:t>VTV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>
                <a:solidFill>
                  <a:srgbClr val="5A5A5A"/>
                </a:solidFill>
                <a:latin typeface="Homizio"/>
              </a:rPr>
              <a:t>Unified CMS + AI agent for Rīga transit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062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59E0B"/>
                </a:solidFill>
                <a:latin typeface="Montserrat Ace"/>
              </a:rPr>
              <a:t>Latvian-built  ·  GTFS-compliant  ·  Bilingual LV + EN  ·  Sovereign deploy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A5A5A"/>
                </a:solidFill>
                <a:latin typeface="Montserrat Ace"/>
              </a:rPr>
              <a:t>Briefing for Vladislavs Bartaševičs  ·  Rīga city hall  ·  Monday, 18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72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C1C1C"/>
                </a:solidFill>
                <a:latin typeface="Montserrat Ace"/>
              </a:rPr>
              <a:t>Linards Bērziņš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59E0B"/>
                </a:solidFill>
                <a:latin typeface="Montserrat Ace"/>
              </a:rPr>
              <a:t>01  ·  DEFINE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1C1C1C"/>
                </a:solidFill>
                <a:latin typeface="Homizio"/>
              </a:rPr>
              <a:t>What we believe the problem is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48640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8813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59E0B"/>
                </a:solidFill>
                <a:latin typeface="Montserrat Ace"/>
              </a:rPr>
              <a:t>—  </a:t>
            </a:r>
            <a:r>
              <a:rPr sz="1600">
                <a:solidFill>
                  <a:srgbClr val="1C1C1C"/>
                </a:solidFill>
                <a:latin typeface="Montserrat Ace"/>
              </a:rPr>
              <a:t>Rīgas Satiksme publicly stated (29 April 2026) that the electronic payment system is outdated and several unrelated ticketing systems run in parallel with limited development potential.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1600" b="1">
                <a:solidFill>
                  <a:srgbClr val="F59E0B"/>
                </a:solidFill>
                <a:latin typeface="Montserrat Ace"/>
              </a:rPr>
              <a:t>—  </a:t>
            </a:r>
            <a:r>
              <a:rPr sz="1600">
                <a:solidFill>
                  <a:srgbClr val="1C1C1C"/>
                </a:solidFill>
                <a:latin typeface="Montserrat Ace"/>
              </a:rPr>
              <a:t>The market study for a new payment + operations stack is open now — the window to shape requirements is Q2–Q3 2026, not after the procurement notice lands.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1600" b="1">
                <a:solidFill>
                  <a:srgbClr val="F59E0B"/>
                </a:solidFill>
                <a:latin typeface="Montserrat Ace"/>
              </a:rPr>
              <a:t>—  </a:t>
            </a:r>
            <a:r>
              <a:rPr sz="1600">
                <a:solidFill>
                  <a:srgbClr val="1C1C1C"/>
                </a:solidFill>
                <a:latin typeface="Montserrat Ace"/>
              </a:rPr>
              <a:t>Three pressures compound: EU GTFS-RT and open-data expectations, rider expectations (bank cards, mobile, QR), and political demand for visible sovereignty in critical public infrastructure.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1600" b="1">
                <a:solidFill>
                  <a:srgbClr val="F59E0B"/>
                </a:solidFill>
                <a:latin typeface="Montserrat Ace"/>
              </a:rPr>
              <a:t>—  </a:t>
            </a:r>
            <a:r>
              <a:rPr sz="1600">
                <a:solidFill>
                  <a:srgbClr val="1C1C1C"/>
                </a:solidFill>
                <a:latin typeface="Montserrat Ace"/>
              </a:rPr>
              <a:t>Cost of inaction reads as continued vendor lock-in, foreign IP exposure, slower modernisation than peer EU capitals, and an opportunity cost on local AI-skills development.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1600" b="1">
                <a:solidFill>
                  <a:srgbClr val="F59E0B"/>
                </a:solidFill>
                <a:latin typeface="Montserrat Ace"/>
              </a:rPr>
              <a:t>—  </a:t>
            </a:r>
            <a:r>
              <a:rPr sz="1600">
                <a:solidFill>
                  <a:srgbClr val="1C1C1C"/>
                </a:solidFill>
                <a:latin typeface="Montserrat Ace"/>
              </a:rPr>
              <a:t>Question for the room: have I framed the problem the way the city sees it — what's missing before we go further?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5A5A"/>
                </a:solidFill>
                <a:latin typeface="Montserrat Ace"/>
              </a:rPr>
              <a:t>VTV  ·  S1 Define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5695" y="6528816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A5A5A"/>
                </a:solidFill>
                <a:latin typeface="Montserrat Ace"/>
              </a:rPr>
              <a:t>1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59E0B"/>
                </a:solidFill>
                <a:latin typeface="Montserrat Ace"/>
              </a:rPr>
              <a:t>02  ·  AS-IS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1C1C1C"/>
                </a:solidFill>
                <a:latin typeface="Homizio"/>
              </a:rPr>
              <a:t>Where the operations stack sits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48640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8813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59E0B"/>
                </a:solidFill>
                <a:latin typeface="Montserrat Ace"/>
              </a:rPr>
              <a:t>—  </a:t>
            </a:r>
            <a:r>
              <a:rPr sz="1600">
                <a:solidFill>
                  <a:srgbClr val="1C1C1C"/>
                </a:solidFill>
                <a:latin typeface="Montserrat Ace"/>
              </a:rPr>
              <a:t>Fragmentation: multiple unconnected ticketing systems, no unified operations CMS, institutional knowledge in PDFs, Excel and tribal memory (Rīgas Satiksme's own April 2026 statement).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1600" b="1">
                <a:solidFill>
                  <a:srgbClr val="F59E0B"/>
                </a:solidFill>
                <a:latin typeface="Montserrat Ace"/>
              </a:rPr>
              <a:t>—  </a:t>
            </a:r>
            <a:r>
              <a:rPr sz="1600">
                <a:solidFill>
                  <a:srgbClr val="1C1C1C"/>
                </a:solidFill>
                <a:latin typeface="Montserrat Ace"/>
              </a:rPr>
              <a:t>Foreign-vendor dominance: Optibus, Trapeze, GIRO HASTUS, INIT MOBILE, Cubic — all carry IP overseas, all SaaS-priced in EUR/USD, none deliver native Latvian UI on day one.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1600" b="1">
                <a:solidFill>
                  <a:srgbClr val="F59E0B"/>
                </a:solidFill>
                <a:latin typeface="Montserrat Ace"/>
              </a:rPr>
              <a:t>—  </a:t>
            </a:r>
            <a:r>
              <a:rPr sz="1600">
                <a:solidFill>
                  <a:srgbClr val="1C1C1C"/>
                </a:solidFill>
                <a:latin typeface="Montserrat Ace"/>
              </a:rPr>
              <a:t>No operational AI layer — drivers, dispatchers, planners work without an AI co-pilot. Adherence questions, schedule lookups and stop searches still cost analyst time.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1600" b="1">
                <a:solidFill>
                  <a:srgbClr val="F59E0B"/>
                </a:solidFill>
                <a:latin typeface="Montserrat Ace"/>
              </a:rPr>
              <a:t>—  </a:t>
            </a:r>
            <a:r>
              <a:rPr sz="1600">
                <a:solidFill>
                  <a:srgbClr val="1C1C1C"/>
                </a:solidFill>
                <a:latin typeface="Montserrat Ace"/>
              </a:rPr>
              <a:t>Procurement timeline is the binding constraint: a typical EU public-sector tender → award → integration runs 12–18 months. Decision quality is set in the next 90 days.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1600" b="1">
                <a:solidFill>
                  <a:srgbClr val="F59E0B"/>
                </a:solidFill>
                <a:latin typeface="Montserrat Ace"/>
              </a:rPr>
              <a:t>—  </a:t>
            </a:r>
            <a:r>
              <a:rPr sz="1600">
                <a:solidFill>
                  <a:srgbClr val="1C1C1C"/>
                </a:solidFill>
                <a:latin typeface="Montserrat Ace"/>
              </a:rPr>
              <a:t>Cost of inaction: continued license + integration spend, no leverage on local AI-skills development, and a narrative loss vs Tallinn / Vilnius if they modernise first.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5A5A"/>
                </a:solidFill>
                <a:latin typeface="Montserrat Ace"/>
              </a:rPr>
              <a:t>VTV  ·  S2 As-is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5695" y="6528816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A5A5A"/>
                </a:solidFill>
                <a:latin typeface="Montserrat Ace"/>
              </a:rPr>
              <a:t>2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59E0B"/>
                </a:solidFill>
                <a:latin typeface="Montserrat Ace"/>
              </a:rPr>
              <a:t>03  ·  FUTURE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1C1C1C"/>
                </a:solidFill>
                <a:latin typeface="Homizio"/>
              </a:rPr>
              <a:t>VTV — solution blueprint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48640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59E0B"/>
                </a:solidFill>
                <a:latin typeface="Montserrat Ace"/>
              </a:rPr>
              <a:t>—  </a:t>
            </a:r>
            <a:r>
              <a:rPr sz="1400">
                <a:solidFill>
                  <a:srgbClr val="1C1C1C"/>
                </a:solidFill>
                <a:latin typeface="Montserrat Ace"/>
              </a:rPr>
              <a:t>Unified single-agent architecture: one Pydantic AI agent, 9 tools, no orchestrator. The LLM picks tools — routing is data, not code.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400" b="1">
                <a:solidFill>
                  <a:srgbClr val="F59E0B"/>
                </a:solidFill>
                <a:latin typeface="Montserrat Ace"/>
              </a:rPr>
              <a:t>—  </a:t>
            </a:r>
            <a:r>
              <a:rPr sz="1400">
                <a:solidFill>
                  <a:srgbClr val="1C1C1C"/>
                </a:solidFill>
                <a:latin typeface="Montserrat Ace"/>
              </a:rPr>
              <a:t>Bilingual LV + EN CMS with role-based access (driver / dispatcher / planner / admin) on Next.js 16 + Auth.js v5.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400" b="1">
                <a:solidFill>
                  <a:srgbClr val="F59E0B"/>
                </a:solidFill>
                <a:latin typeface="Montserrat Ace"/>
              </a:rPr>
              <a:t>—  </a:t>
            </a:r>
            <a:r>
              <a:rPr sz="1400">
                <a:solidFill>
                  <a:srgbClr val="1C1C1C"/>
                </a:solidFill>
                <a:latin typeface="Montserrat Ace"/>
              </a:rPr>
              <a:t>GTFS-compliant data layer — Rīga's data stays in an EU-standard model; portable in and out, no proprietary lock-in.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400" b="1">
                <a:solidFill>
                  <a:srgbClr val="F59E0B"/>
                </a:solidFill>
                <a:latin typeface="Montserrat Ace"/>
              </a:rPr>
              <a:t>—  </a:t>
            </a:r>
            <a:r>
              <a:rPr sz="1400">
                <a:solidFill>
                  <a:srgbClr val="1C1C1C"/>
                </a:solidFill>
                <a:latin typeface="Montserrat Ace"/>
              </a:rPr>
              <a:t>Swappable LLM — flip a single env var to run on Anthropic, OpenAI, Groq, OpenRouter, or fully on-prem on Ollama. Sovereign deploy is real, not aspirational.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400" b="1">
                <a:solidFill>
                  <a:srgbClr val="F59E0B"/>
                </a:solidFill>
                <a:latin typeface="Montserrat Ace"/>
              </a:rPr>
              <a:t>—  </a:t>
            </a:r>
            <a:r>
              <a:rPr sz="1400">
                <a:solidFill>
                  <a:srgbClr val="1C1C1C"/>
                </a:solidFill>
                <a:latin typeface="Montserrat Ace"/>
              </a:rPr>
              <a:t>Safety guardrails coded in: read-only transit tools, explicit-confirm on writes, dry-run preview on bulk ops, path sandbox, monthly LLM-spend cap.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828800"/>
            <a:ext cx="548640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5080" y="2057400"/>
            <a:ext cx="5029200" cy="777240"/>
          </a:xfrm>
          <a:prstGeom prst="rect">
            <a:avLst/>
          </a:prstGeom>
          <a:solidFill>
            <a:srgbClr val="FAFAF7"/>
          </a:solidFill>
          <a:ln w="9525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1488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C1C1C"/>
                </a:solidFill>
                <a:latin typeface="Montserrat Ace"/>
              </a:rPr>
              <a:t>Next.js 16 CMS  ·  Turborepo  ·  LV + EN  ·  4-role RBAC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4688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5A5A"/>
                </a:solidFill>
                <a:latin typeface="Montserrat Ace"/>
              </a:rPr>
              <a:t>Routes  ·  Stops  ·  Schedules  ·  GTFS  ·  Embedded AI chat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62680" y="2834640"/>
            <a:ext cx="14000" cy="274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3154680"/>
            <a:ext cx="5029200" cy="1828800"/>
          </a:xfrm>
          <a:prstGeom prst="rect">
            <a:avLst/>
          </a:prstGeom>
          <a:solidFill>
            <a:srgbClr val="FAFAF7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227832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C1C1C"/>
                </a:solidFill>
                <a:latin typeface="Montserrat Ace"/>
              </a:rPr>
              <a:t>FastAPI  ·  Pydantic AI  ·  Unified agent  ·  9 tools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611880"/>
            <a:ext cx="235458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685032"/>
            <a:ext cx="21717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59E0B"/>
                </a:solidFill>
                <a:latin typeface="Montserrat Ace"/>
              </a:rPr>
              <a:t>Transit (5)  ·  read-only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904488"/>
            <a:ext cx="21717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1C1C1C"/>
                </a:solidFill>
                <a:latin typeface="Montserrat Ace"/>
              </a:rPr>
              <a:t>·  query_bus_status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087368"/>
            <a:ext cx="21717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1C1C1C"/>
                </a:solidFill>
                <a:latin typeface="Montserrat Ace"/>
              </a:rPr>
              <a:t>·  get_route_schedule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270248"/>
            <a:ext cx="21717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1C1C1C"/>
                </a:solidFill>
                <a:latin typeface="Montserrat Ace"/>
              </a:rPr>
              <a:t>·  search_stops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453128"/>
            <a:ext cx="21717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1C1C1C"/>
                </a:solidFill>
                <a:latin typeface="Montserrat Ace"/>
              </a:rPr>
              <a:t>·  get_adherence_report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636008"/>
            <a:ext cx="21717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1C1C1C"/>
                </a:solidFill>
                <a:latin typeface="Montserrat Ace"/>
              </a:rPr>
              <a:t>·  check_driver_availability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92540" y="3611880"/>
            <a:ext cx="235458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83980" y="3685032"/>
            <a:ext cx="21717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59E0B"/>
                </a:solidFill>
                <a:latin typeface="Montserrat Ace"/>
              </a:rPr>
              <a:t>Knowledge (4)  ·  sandboxed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83980" y="3904488"/>
            <a:ext cx="21717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1C1C1C"/>
                </a:solidFill>
                <a:latin typeface="Montserrat Ace"/>
              </a:rPr>
              <a:t>·  query_vault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3980" y="4105656"/>
            <a:ext cx="21717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1C1C1C"/>
                </a:solidFill>
                <a:latin typeface="Montserrat Ace"/>
              </a:rPr>
              <a:t>·  manage_notes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83980" y="4306824"/>
            <a:ext cx="21717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1C1C1C"/>
                </a:solidFill>
                <a:latin typeface="Montserrat Ace"/>
              </a:rPr>
              <a:t>·  manage_folders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3980" y="4507992"/>
            <a:ext cx="21717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1C1C1C"/>
                </a:solidFill>
                <a:latin typeface="Montserrat Ace"/>
              </a:rPr>
              <a:t>·  bulk_operations · dry_run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5212080"/>
            <a:ext cx="2446020" cy="777240"/>
          </a:xfrm>
          <a:prstGeom prst="rect">
            <a:avLst/>
          </a:prstGeom>
          <a:solidFill>
            <a:srgbClr val="FAFAF7"/>
          </a:solidFill>
          <a:ln w="9525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5285232"/>
            <a:ext cx="22631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C1C1C"/>
                </a:solidFill>
                <a:latin typeface="Montserrat Ace"/>
              </a:rPr>
              <a:t>Swappable LLM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5577840"/>
            <a:ext cx="22631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5A5A5A"/>
                </a:solidFill>
                <a:latin typeface="Montserrat Ace"/>
              </a:rPr>
              <a:t>Anthropic  ·  Ollama on-prem  ·  OpenAI  ·  Groq  ·  any OpenAI-compatible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38260" y="5212080"/>
            <a:ext cx="2446020" cy="777240"/>
          </a:xfrm>
          <a:prstGeom prst="rect">
            <a:avLst/>
          </a:prstGeom>
          <a:solidFill>
            <a:srgbClr val="FAFAF7"/>
          </a:solidFill>
          <a:ln w="9525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29700" y="5285232"/>
            <a:ext cx="22631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C1C1C"/>
                </a:solidFill>
                <a:latin typeface="Montserrat Ace"/>
              </a:rPr>
              <a:t>PostgreSQL 18  ·  async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29700" y="5577840"/>
            <a:ext cx="22631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A5A5A"/>
                </a:solidFill>
                <a:latin typeface="Montserrat Ace"/>
              </a:rPr>
              <a:t>GTFS-compliant data model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528816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5A5A"/>
                </a:solidFill>
                <a:latin typeface="Montserrat Ace"/>
              </a:rPr>
              <a:t>VTV  ·  S3 Blueprint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05695" y="6528816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A5A5A"/>
                </a:solidFill>
                <a:latin typeface="Montserrat Ace"/>
              </a:rPr>
              <a:t>3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59E0B"/>
                </a:solidFill>
                <a:latin typeface="Montserrat Ace"/>
              </a:rPr>
              <a:t>04  · 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1C1C1C"/>
                </a:solidFill>
                <a:latin typeface="Homizio"/>
              </a:rPr>
              <a:t>From signed Phase-0 to operational hand-off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48640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226314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2263140" cy="4114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66544"/>
            <a:ext cx="18973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ontserrat Ace"/>
              </a:rPr>
              <a:t>PHASE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60320"/>
            <a:ext cx="18973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C1C1C"/>
                </a:solidFill>
                <a:latin typeface="Homizio"/>
              </a:rPr>
              <a:t>Discovery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17520"/>
            <a:ext cx="18973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59E0B"/>
                </a:solidFill>
                <a:latin typeface="Montserrat Ace"/>
              </a:rPr>
              <a:t>Weeks 0–4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18973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5A5A5A"/>
                </a:solidFill>
                <a:latin typeface="Montserrat Ace"/>
              </a:rPr>
              <a:t>5 stakeholder interviews, read-only sandbox on public GTFS, success metrics + kill-switch criteria. Fixed-price.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43300" y="2011680"/>
            <a:ext cx="226314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43300" y="2011680"/>
            <a:ext cx="2263140" cy="4114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26180" y="2066544"/>
            <a:ext cx="18973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ontserrat Ace"/>
              </a:rPr>
              <a:t>PHASE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26180" y="2560320"/>
            <a:ext cx="18973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C1C1C"/>
                </a:solidFill>
                <a:latin typeface="Homizio"/>
              </a:rPr>
              <a:t>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26180" y="3017520"/>
            <a:ext cx="18973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59E0B"/>
                </a:solidFill>
                <a:latin typeface="Montserrat Ace"/>
              </a:rPr>
              <a:t>Months 2–4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26180" y="3429000"/>
            <a:ext cx="18973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5A5A5A"/>
                </a:solidFill>
                <a:latin typeface="Montserrat Ace"/>
              </a:rPr>
              <a:t>2 routes, 1 depot, AI agent shadow-mode for one dispatcher. Weekly review with ops. Decision gate at month 4.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2011680"/>
            <a:ext cx="226314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46520" y="2011680"/>
            <a:ext cx="2263140" cy="4114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2066544"/>
            <a:ext cx="18973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ontserrat Ace"/>
              </a:rPr>
              <a:t>PHASE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560320"/>
            <a:ext cx="18973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C1C1C"/>
                </a:solidFill>
                <a:latin typeface="Homizio"/>
              </a:rPr>
              <a:t>Scale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3017520"/>
            <a:ext cx="18973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59E0B"/>
                </a:solidFill>
                <a:latin typeface="Montserrat Ace"/>
              </a:rPr>
              <a:t>Months 5–8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429000"/>
            <a:ext cx="18973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5A5A5A"/>
                </a:solidFill>
                <a:latin typeface="Montserrat Ace"/>
              </a:rPr>
              <a:t>Full route network on the CMS. RBAC live for ops staff. Optional integration with the new payment-system winner.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49740" y="2011680"/>
            <a:ext cx="226314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349740" y="2011680"/>
            <a:ext cx="2263140" cy="4114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32620" y="2066544"/>
            <a:ext cx="18973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ontserrat Ace"/>
              </a:rPr>
              <a:t>PHASE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32620" y="2560320"/>
            <a:ext cx="18973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C1C1C"/>
                </a:solidFill>
                <a:latin typeface="Homizio"/>
              </a:rPr>
              <a:t>Hand-off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32620" y="3017520"/>
            <a:ext cx="18973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59E0B"/>
                </a:solidFill>
                <a:latin typeface="Montserrat Ace"/>
              </a:rPr>
              <a:t>Months 9–12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32620" y="3429000"/>
            <a:ext cx="18973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5A5A5A"/>
                </a:solidFill>
                <a:latin typeface="Montserrat Ace"/>
              </a:rPr>
              <a:t>Knowledge transfer to RS staff. EU GTFS-RT audit pass. Source-code escrow option. Tier-2 retainer.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212080"/>
            <a:ext cx="10972800" cy="640080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28523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59E0B"/>
                </a:solidFill>
                <a:latin typeface="Montserrat Ace"/>
              </a:rPr>
              <a:t>GOVERNANCE THROUGHOUT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55321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Montserrat Ace"/>
              </a:rPr>
              <a:t>Bi-weekly Council steering review  ·  GDPR + IP review at each phase gate  ·  kill-switch at any gate if Phase-0 KPIs are not met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528816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5A5A"/>
                </a:solidFill>
                <a:latin typeface="Montserrat Ace"/>
              </a:rPr>
              <a:t>VTV  ·  S4 Journey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05695" y="6528816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A5A5A"/>
                </a:solidFill>
                <a:latin typeface="Montserrat Ace"/>
              </a:rPr>
              <a:t>4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59E0B"/>
                </a:solidFill>
                <a:latin typeface="Montserrat Ace"/>
              </a:rPr>
              <a:t>05  · 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1C1C1C"/>
                </a:solidFill>
                <a:latin typeface="Homizio"/>
              </a:rPr>
              <a:t>The four realistic paths — scored on what Council will ask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48640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A5A5A"/>
                </a:solidFill>
                <a:latin typeface="Montserrat Ace"/>
              </a:rPr>
              <a:t>Every modernisation option, compared on four criteria.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10972800" cy="502920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75688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59E0B"/>
                </a:solidFill>
                <a:latin typeface="Montserrat Ace"/>
              </a:rPr>
              <a:t>PATH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2075688"/>
            <a:ext cx="10972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59E0B"/>
                </a:solidFill>
                <a:latin typeface="Montserrat Ace"/>
              </a:rPr>
              <a:t>SPEED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59" y="2075688"/>
            <a:ext cx="10972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59E0B"/>
                </a:solidFill>
                <a:latin typeface="Montserrat Ace"/>
              </a:rPr>
              <a:t>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18" y="2075688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59E0B"/>
                </a:solidFill>
                <a:latin typeface="Montserrat Ace"/>
              </a:rPr>
              <a:t>SOVEREIGNTY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998" y="2075688"/>
            <a:ext cx="10972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59E0B"/>
                </a:solidFill>
                <a:latin typeface="Montserrat Ace"/>
              </a:rPr>
              <a:t>LV-NATIVE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57" y="2075688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59E0B"/>
                </a:solidFill>
                <a:latin typeface="Montserrat Ace"/>
              </a:rPr>
              <a:t>NARRATIVE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468880"/>
            <a:ext cx="109728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2615184"/>
            <a:ext cx="28803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C1C1C"/>
                </a:solidFill>
                <a:latin typeface="Montserrat Ace"/>
              </a:rPr>
              <a:t>A · Build in-house at 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13632" y="2615184"/>
            <a:ext cx="105155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5A5A"/>
                </a:solidFill>
                <a:latin typeface="Montserrat Ace"/>
              </a:rPr>
              <a:t>✗ 24+ 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93791" y="2615184"/>
            <a:ext cx="105155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5A5A"/>
                </a:solidFill>
                <a:latin typeface="Montserrat Ace"/>
              </a:rPr>
              <a:t>✗ High capex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0" y="2615184"/>
            <a:ext cx="13258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5A5A"/>
                </a:solidFill>
                <a:latin typeface="Montserrat Ace"/>
              </a:rPr>
              <a:t>✓ Full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0" y="2615184"/>
            <a:ext cx="105155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5A5A"/>
                </a:solidFill>
                <a:latin typeface="Montserrat Ace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08589" y="2615184"/>
            <a:ext cx="22402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5A5A"/>
                </a:solidFill>
                <a:latin typeface="Montserrat Ace"/>
              </a:rPr>
              <a:t>~ Mixed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035808"/>
            <a:ext cx="10972800" cy="566928"/>
          </a:xfrm>
          <a:prstGeom prst="rect">
            <a:avLst/>
          </a:prstGeom>
          <a:solidFill>
            <a:srgbClr val="FAFAF7"/>
          </a:solidFill>
          <a:ln w="9525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3182112"/>
            <a:ext cx="28803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C1C1C"/>
                </a:solidFill>
                <a:latin typeface="Montserrat Ace"/>
              </a:rPr>
              <a:t>B · Foreign SaaS (Optibus / Trapeze / HASTUS / INIT)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13632" y="3182112"/>
            <a:ext cx="105155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5A5A"/>
                </a:solidFill>
                <a:latin typeface="Montserrat Ace"/>
              </a:rPr>
              <a:t>✓ Fast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93791" y="3182112"/>
            <a:ext cx="105155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5A5A"/>
                </a:solidFill>
                <a:latin typeface="Montserrat Ace"/>
              </a:rPr>
              <a:t>✗ Recurring EUR/USD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0" y="3182112"/>
            <a:ext cx="13258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5A5A"/>
                </a:solidFill>
                <a:latin typeface="Montserrat Ace"/>
              </a:rPr>
              <a:t>✗ Foreign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0" y="3182112"/>
            <a:ext cx="105155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5A5A"/>
                </a:solidFill>
                <a:latin typeface="Montserrat Ace"/>
              </a:rPr>
              <a:t>✗ Bolt-on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08589" y="3182112"/>
            <a:ext cx="22402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5A5A"/>
                </a:solidFill>
                <a:latin typeface="Montserrat Ace"/>
              </a:rPr>
              <a:t>✗ "Riga depends on foreign tech"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602736"/>
            <a:ext cx="109728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3749040"/>
            <a:ext cx="28803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C1C1C"/>
                </a:solidFill>
                <a:latin typeface="Montserrat Ace"/>
              </a:rPr>
              <a:t>C · Regional EU integrator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13632" y="3749040"/>
            <a:ext cx="105155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5A5A"/>
                </a:solidFill>
                <a:latin typeface="Montserrat Ace"/>
              </a:rPr>
              <a:t>~ 12–18 mo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93791" y="3749040"/>
            <a:ext cx="105155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5A5A"/>
                </a:solidFill>
                <a:latin typeface="Montserrat Ace"/>
              </a:rPr>
              <a:t>~ Mid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3950" y="3749040"/>
            <a:ext cx="13258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5A5A"/>
                </a:solidFill>
                <a:latin typeface="Montserrat Ace"/>
              </a:rPr>
              <a:t>~ Partial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28430" y="3749040"/>
            <a:ext cx="105155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5A5A"/>
                </a:solidFill>
                <a:latin typeface="Montserrat Ace"/>
              </a:rPr>
              <a:t>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08589" y="3749040"/>
            <a:ext cx="22402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5A5A"/>
                </a:solidFill>
                <a:latin typeface="Montserrat Ace"/>
              </a:rPr>
              <a:t>~ Neutral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4169664"/>
            <a:ext cx="10972800" cy="566928"/>
          </a:xfrm>
          <a:prstGeom prst="rect">
            <a:avLst/>
          </a:prstGeom>
          <a:solidFill>
            <a:srgbClr val="FAFAF7"/>
          </a:solidFill>
          <a:ln w="9525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" y="4169664"/>
            <a:ext cx="109728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" y="4315968"/>
            <a:ext cx="28803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C1C1C"/>
                </a:solidFill>
                <a:latin typeface="Montserrat Ace"/>
              </a:rPr>
              <a:t>D · Latvian-built specialist (VTV)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13632" y="4315968"/>
            <a:ext cx="105155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C1C1C"/>
                </a:solidFill>
                <a:latin typeface="Montserrat Ace"/>
              </a:rPr>
              <a:t>✓ Phase 0 in 4 wks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93791" y="4315968"/>
            <a:ext cx="105155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C1C1C"/>
                </a:solidFill>
                <a:latin typeface="Montserrat Ace"/>
              </a:rPr>
              <a:t>✓ Modular, milestone-priced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73950" y="4315968"/>
            <a:ext cx="13258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C1C1C"/>
                </a:solidFill>
                <a:latin typeface="Montserrat Ace"/>
              </a:rPr>
              <a:t>✓ Latvia + escrow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28430" y="4315968"/>
            <a:ext cx="105155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C1C1C"/>
                </a:solidFill>
                <a:latin typeface="Montserrat Ace"/>
              </a:rPr>
              <a:t>✓ Native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08589" y="4315968"/>
            <a:ext cx="22402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C1C1C"/>
                </a:solidFill>
                <a:latin typeface="Montserrat Ace"/>
              </a:rPr>
              <a:t>✓ "Riga backs Latvian talent"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5010912"/>
            <a:ext cx="1097280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8680" y="512064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Montserrat Ace"/>
              </a:rPr>
              <a:t>RECOMMENDED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" y="537667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FFFF"/>
                </a:solidFill>
                <a:latin typeface="Montserrat Ace"/>
              </a:rPr>
              <a:t>Path D, sequenced behind a fixed-price Phase-0 discovery sprint. Phase-0 carries near-zero political risk and gives evidence to defend the choice in Council.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6528816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5A5A"/>
                </a:solidFill>
                <a:latin typeface="Montserrat Ace"/>
              </a:rPr>
              <a:t>VTV  ·  S5 Decision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05695" y="6528816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A5A5A"/>
                </a:solidFill>
                <a:latin typeface="Montserrat Ace"/>
              </a:rPr>
              <a:t>5 /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59E0B"/>
                </a:solidFill>
                <a:latin typeface="Montserrat Ace"/>
              </a:rPr>
              <a:t>06  · 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1C1C1C"/>
                </a:solidFill>
                <a:latin typeface="Homizio"/>
              </a:rPr>
              <a:t>What I am asking for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48640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8813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59E0B"/>
                </a:solidFill>
                <a:latin typeface="Montserrat Ace"/>
              </a:rPr>
              <a:t>—  </a:t>
            </a:r>
            <a:r>
              <a:rPr sz="1600">
                <a:solidFill>
                  <a:srgbClr val="1C1C1C"/>
                </a:solidFill>
                <a:latin typeface="Montserrat Ace"/>
              </a:rPr>
              <a:t>Greenlight a 4-week, fixed-price Phase-0 discovery sprint (statement of work in appendix).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1600" b="1">
                <a:solidFill>
                  <a:srgbClr val="F59E0B"/>
                </a:solidFill>
                <a:latin typeface="Montserrat Ace"/>
              </a:rPr>
              <a:t>—  </a:t>
            </a:r>
            <a:r>
              <a:rPr sz="1600">
                <a:solidFill>
                  <a:srgbClr val="1C1C1C"/>
                </a:solidFill>
                <a:latin typeface="Montserrat Ace"/>
              </a:rPr>
              <a:t>One named contact at Rīgas Satiksme operations + one at the Council digital portfolio.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1600" b="1">
                <a:solidFill>
                  <a:srgbClr val="F59E0B"/>
                </a:solidFill>
                <a:latin typeface="Montserrat Ace"/>
              </a:rPr>
              <a:t>—  </a:t>
            </a:r>
            <a:r>
              <a:rPr sz="1600">
                <a:solidFill>
                  <a:srgbClr val="1C1C1C"/>
                </a:solidFill>
                <a:latin typeface="Montserrat Ace"/>
              </a:rPr>
              <a:t>Read-only access to the public GTFS feed — already public, formal acknowledgement only.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1600" b="1">
                <a:solidFill>
                  <a:srgbClr val="F59E0B"/>
                </a:solidFill>
                <a:latin typeface="Montserrat Ace"/>
              </a:rPr>
              <a:t>—  </a:t>
            </a:r>
            <a:r>
              <a:rPr sz="1600">
                <a:solidFill>
                  <a:srgbClr val="1C1C1C"/>
                </a:solidFill>
                <a:latin typeface="Montserrat Ace"/>
              </a:rPr>
              <a:t>A 30-minute Phase-0 review meeting in week 4 to decide go / no-go for Phase 1.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1600" b="1">
                <a:solidFill>
                  <a:srgbClr val="F59E0B"/>
                </a:solidFill>
                <a:latin typeface="Montserrat Ace"/>
              </a:rPr>
              <a:t>—  </a:t>
            </a:r>
            <a:r>
              <a:rPr sz="1600">
                <a:solidFill>
                  <a:srgbClr val="1C1C1C"/>
                </a:solidFill>
                <a:latin typeface="Montserrat Ace"/>
              </a:rPr>
              <a:t>If Phase-0 evidence supports it: a short Council statement of intent framing the political narrative around Latvian transit talent — without committing the city to procurement.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5A5A"/>
                </a:solidFill>
                <a:latin typeface="Montserrat Ace"/>
              </a:rPr>
              <a:t>VTV  ·  S6 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5695" y="6528816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A5A5A"/>
                </a:solidFill>
                <a:latin typeface="Montserrat Ace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